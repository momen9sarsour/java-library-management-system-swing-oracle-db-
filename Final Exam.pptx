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7" r:id="rId1"/>
  </p:sldMasterIdLst>
  <p:sldIdLst>
    <p:sldId id="256" r:id="rId2"/>
    <p:sldId id="257" r:id="rId3"/>
    <p:sldId id="258" r:id="rId4"/>
    <p:sldId id="283" r:id="rId5"/>
    <p:sldId id="284" r:id="rId6"/>
    <p:sldId id="285" r:id="rId7"/>
    <p:sldId id="286" r:id="rId8"/>
    <p:sldId id="287" r:id="rId9"/>
    <p:sldId id="288" r:id="rId10"/>
    <p:sldId id="260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68" autoAdjust="0"/>
    <p:restoredTop sz="94660"/>
  </p:normalViewPr>
  <p:slideViewPr>
    <p:cSldViewPr snapToGrid="0">
      <p:cViewPr varScale="1">
        <p:scale>
          <a:sx n="67" d="100"/>
          <a:sy n="67" d="100"/>
        </p:scale>
        <p:origin x="11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الثانوي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73049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1334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1201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50866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77811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9721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48683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4218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2322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رة بانورامي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3495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39581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ar-SA"/>
              <a:t>انقر لتحرير أنماط النص الرئيسي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6723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39419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26187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 صو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96936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49755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1169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ar-SA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92DF5AF-D714-4F90-8189-2B90D66F28CD}" type="datetimeFigureOut">
              <a:rPr lang="ar-SA" smtClean="0"/>
              <a:t>29/05/1447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BF11F-6C01-4050-B548-D61E8996AE5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6912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55005" y="1085850"/>
            <a:ext cx="8825658" cy="1357313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 EXAM</a:t>
            </a:r>
            <a:endParaRPr lang="ar-S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154955" y="2443163"/>
            <a:ext cx="8825658" cy="319563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		    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students: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                      1.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Mo’men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B. Sarsour 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2. Ahmed M.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Shaat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3.</a:t>
            </a:r>
            <a:r>
              <a: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Shehab E.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Shaat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ar-S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71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2143126" y="1643061"/>
            <a:ext cx="6229350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Project Axes :</a:t>
            </a: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1.Used classes and their own methods .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2.Design and connect with each other .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3.Data storage and management. 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81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943101" y="1042988"/>
            <a:ext cx="591502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1.The Classes :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2357438" y="1873985"/>
            <a:ext cx="8372475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1.User.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2.Student.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3.Staff.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4.Book.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5.Book Loaning.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6.Book Return.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073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943101" y="1042988"/>
            <a:ext cx="591502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  <a:p>
            <a:pPr algn="l" rtl="0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/>
          <p:cNvSpPr txBox="1">
            <a:spLocks noChangeArrowheads="1"/>
          </p:cNvSpPr>
          <p:nvPr/>
        </p:nvSpPr>
        <p:spPr bwMode="auto">
          <a:xfrm>
            <a:off x="4487864" y="733425"/>
            <a:ext cx="3498850" cy="61245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288" tIns="18288" rIns="18288" bIns="0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tabLst>
                <a:tab pos="1143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tabLst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User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USER_ID : String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</a:t>
            </a:r>
            <a:r>
              <a:rPr lang="en-US" altLang="ar-SA" sz="1600" dirty="0" err="1">
                <a:cs typeface="Times New Roman" panose="02020603050405020304" pitchFamily="18" charset="0"/>
              </a:rPr>
              <a:t>idnumberUser</a:t>
            </a:r>
            <a:r>
              <a:rPr lang="en-US" altLang="ar-SA" sz="1600" dirty="0">
                <a:cs typeface="Times New Roman" panose="02020603050405020304" pitchFamily="18" charset="0"/>
              </a:rPr>
              <a:t>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</a:t>
            </a:r>
            <a:r>
              <a:rPr lang="en-US" altLang="ar-SA" sz="1600" dirty="0" err="1">
                <a:cs typeface="Times New Roman" panose="02020603050405020304" pitchFamily="18" charset="0"/>
              </a:rPr>
              <a:t>firstname</a:t>
            </a:r>
            <a:r>
              <a:rPr lang="en-US" altLang="ar-SA" sz="1600" dirty="0">
                <a:cs typeface="Times New Roman" panose="02020603050405020304" pitchFamily="18" charset="0"/>
              </a:rPr>
              <a:t>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</a:t>
            </a:r>
            <a:r>
              <a:rPr lang="en-US" altLang="ar-SA" sz="1600" dirty="0" err="1">
                <a:cs typeface="Times New Roman" panose="02020603050405020304" pitchFamily="18" charset="0"/>
              </a:rPr>
              <a:t>lastname</a:t>
            </a:r>
            <a:r>
              <a:rPr lang="en-US" altLang="ar-SA" sz="1600" dirty="0">
                <a:cs typeface="Times New Roman" panose="02020603050405020304" pitchFamily="18" charset="0"/>
              </a:rPr>
              <a:t>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-password: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</a:t>
            </a:r>
            <a:r>
              <a:rPr lang="en-US" altLang="ar-SA" sz="1600" dirty="0" err="1">
                <a:cs typeface="Times New Roman" panose="02020603050405020304" pitchFamily="18" charset="0"/>
              </a:rPr>
              <a:t>phonenumber</a:t>
            </a:r>
            <a:r>
              <a:rPr lang="en-US" altLang="ar-SA" sz="1600" dirty="0">
                <a:cs typeface="Times New Roman" panose="02020603050405020304" pitchFamily="18" charset="0"/>
              </a:rPr>
              <a:t>: string	 </a:t>
            </a:r>
          </a:p>
          <a:p>
            <a:pPr algn="l" rtl="0">
              <a:spcBef>
                <a:spcPts val="8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User() 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User (</a:t>
            </a:r>
            <a:r>
              <a:rPr lang="en-US" altLang="ar-SA" sz="1600" dirty="0" err="1">
                <a:cs typeface="Times New Roman" panose="02020603050405020304" pitchFamily="18" charset="0"/>
              </a:rPr>
              <a:t>idnumberUser</a:t>
            </a:r>
            <a:r>
              <a:rPr lang="en-US" altLang="ar-SA" sz="1600" dirty="0">
                <a:cs typeface="Times New Roman" panose="02020603050405020304" pitchFamily="18" charset="0"/>
              </a:rPr>
              <a:t>: string, </a:t>
            </a:r>
            <a:r>
              <a:rPr lang="en-US" altLang="ar-SA" sz="1600" dirty="0" err="1">
                <a:cs typeface="Times New Roman" panose="02020603050405020304" pitchFamily="18" charset="0"/>
              </a:rPr>
              <a:t>firstname</a:t>
            </a:r>
            <a:r>
              <a:rPr lang="en-US" altLang="ar-SA" sz="1600" dirty="0">
                <a:cs typeface="Times New Roman" panose="02020603050405020304" pitchFamily="18" charset="0"/>
              </a:rPr>
              <a:t>: string, </a:t>
            </a:r>
            <a:r>
              <a:rPr lang="en-US" altLang="ar-SA" sz="1600" dirty="0" err="1">
                <a:cs typeface="Times New Roman" panose="02020603050405020304" pitchFamily="18" charset="0"/>
              </a:rPr>
              <a:t>lastname</a:t>
            </a:r>
            <a:r>
              <a:rPr lang="en-US" altLang="ar-SA" sz="1600" dirty="0">
                <a:cs typeface="Times New Roman" panose="02020603050405020304" pitchFamily="18" charset="0"/>
              </a:rPr>
              <a:t>: string , password: string, </a:t>
            </a:r>
            <a:r>
              <a:rPr lang="en-US" altLang="ar-SA" sz="1600" dirty="0" err="1">
                <a:cs typeface="Times New Roman" panose="02020603050405020304" pitchFamily="18" charset="0"/>
              </a:rPr>
              <a:t>phonenumber</a:t>
            </a:r>
            <a:r>
              <a:rPr lang="en-US" altLang="ar-SA" sz="1600" dirty="0">
                <a:cs typeface="Times New Roman" panose="02020603050405020304" pitchFamily="18" charset="0"/>
              </a:rPr>
              <a:t>: string)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</a:t>
            </a:r>
            <a:r>
              <a:rPr lang="en-US" altLang="ar-SA" sz="1600" dirty="0" err="1">
                <a:cs typeface="Times New Roman" panose="02020603050405020304" pitchFamily="18" charset="0"/>
              </a:rPr>
              <a:t>toString</a:t>
            </a:r>
            <a:r>
              <a:rPr lang="en-US" altLang="ar-SA" sz="1600" dirty="0">
                <a:cs typeface="Times New Roman" panose="02020603050405020304" pitchFamily="18" charset="0"/>
              </a:rPr>
              <a:t>() : String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equals(</a:t>
            </a:r>
            <a:r>
              <a:rPr lang="en-US" altLang="ar-SA" sz="1600" dirty="0" err="1">
                <a:cs typeface="Times New Roman" panose="02020603050405020304" pitchFamily="18" charset="0"/>
              </a:rPr>
              <a:t>obj</a:t>
            </a:r>
            <a:r>
              <a:rPr lang="en-US" altLang="ar-SA" sz="1600" dirty="0">
                <a:cs typeface="Times New Roman" panose="02020603050405020304" pitchFamily="18" charset="0"/>
              </a:rPr>
              <a:t>  : Object) : </a:t>
            </a:r>
            <a:r>
              <a:rPr lang="en-US" altLang="ar-SA" sz="1600" dirty="0" err="1">
                <a:cs typeface="Times New Roman" panose="02020603050405020304" pitchFamily="18" charset="0"/>
              </a:rPr>
              <a:t>boolean</a:t>
            </a:r>
            <a:endParaRPr lang="en-US" altLang="ar-SA" sz="1600" dirty="0">
              <a:cs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 login(</a:t>
            </a:r>
            <a:r>
              <a:rPr lang="en-US" altLang="ar-SA" sz="1600" dirty="0" err="1">
                <a:cs typeface="Times New Roman" panose="02020603050405020304" pitchFamily="18" charset="0"/>
              </a:rPr>
              <a:t>user_name</a:t>
            </a:r>
            <a:r>
              <a:rPr lang="en-US" altLang="ar-SA" sz="1600" dirty="0">
                <a:cs typeface="Times New Roman" panose="02020603050405020304" pitchFamily="18" charset="0"/>
              </a:rPr>
              <a:t> :String, password : String): </a:t>
            </a:r>
            <a:r>
              <a:rPr lang="en-US" altLang="ar-SA" sz="1600" dirty="0" err="1">
                <a:cs typeface="Times New Roman" panose="02020603050405020304" pitchFamily="18" charset="0"/>
              </a:rPr>
              <a:t>boolean</a:t>
            </a:r>
            <a:endParaRPr lang="en-US" altLang="ar-SA" sz="1600" dirty="0">
              <a:cs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 + </a:t>
            </a:r>
            <a:r>
              <a:rPr lang="en-US" altLang="ar-SA" sz="1600" dirty="0" err="1">
                <a:cs typeface="Times New Roman" panose="02020603050405020304" pitchFamily="18" charset="0"/>
              </a:rPr>
              <a:t>addUser</a:t>
            </a:r>
            <a:r>
              <a:rPr lang="en-US" altLang="ar-SA" sz="1600" dirty="0">
                <a:cs typeface="Times New Roman" panose="02020603050405020304" pitchFamily="18" charset="0"/>
              </a:rPr>
              <a:t> (id : String, </a:t>
            </a:r>
            <a:r>
              <a:rPr lang="en-US" altLang="ar-SA" sz="1600" dirty="0" err="1">
                <a:cs typeface="Times New Roman" panose="02020603050405020304" pitchFamily="18" charset="0"/>
              </a:rPr>
              <a:t>fname</a:t>
            </a:r>
            <a:r>
              <a:rPr lang="en-US" altLang="ar-SA" sz="1600" dirty="0">
                <a:cs typeface="Times New Roman" panose="02020603050405020304" pitchFamily="18" charset="0"/>
              </a:rPr>
              <a:t> 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lname</a:t>
            </a:r>
            <a:r>
              <a:rPr lang="en-US" altLang="ar-SA" sz="1600" dirty="0">
                <a:cs typeface="Times New Roman" panose="02020603050405020304" pitchFamily="18" charset="0"/>
              </a:rPr>
              <a:t> : String , password: String , phone: String 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check (id : String, </a:t>
            </a:r>
            <a:r>
              <a:rPr lang="en-US" altLang="ar-SA" sz="1600" dirty="0" err="1">
                <a:cs typeface="Times New Roman" panose="02020603050405020304" pitchFamily="18" charset="0"/>
              </a:rPr>
              <a:t>fname</a:t>
            </a:r>
            <a:r>
              <a:rPr lang="en-US" altLang="ar-SA" sz="1600" dirty="0">
                <a:cs typeface="Times New Roman" panose="02020603050405020304" pitchFamily="18" charset="0"/>
              </a:rPr>
              <a:t> 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lname</a:t>
            </a:r>
            <a:r>
              <a:rPr lang="en-US" altLang="ar-SA" sz="1600" dirty="0">
                <a:cs typeface="Times New Roman" panose="02020603050405020304" pitchFamily="18" charset="0"/>
              </a:rPr>
              <a:t> : String , pass1: String , pass2: String , phone : String  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endParaRPr lang="en-US" altLang="ar-SA" sz="1600" dirty="0">
              <a:cs typeface="Times New Roman" panose="02020603050405020304" pitchFamily="18" charset="0"/>
            </a:endParaRPr>
          </a:p>
        </p:txBody>
      </p:sp>
      <p:cxnSp>
        <p:nvCxnSpPr>
          <p:cNvPr id="5" name="رابط مستقيم 32"/>
          <p:cNvCxnSpPr>
            <a:cxnSpLocks noChangeShapeType="1"/>
          </p:cNvCxnSpPr>
          <p:nvPr/>
        </p:nvCxnSpPr>
        <p:spPr bwMode="auto">
          <a:xfrm>
            <a:off x="4486276" y="1036637"/>
            <a:ext cx="34972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رابط مستقيم 33"/>
          <p:cNvCxnSpPr>
            <a:cxnSpLocks noChangeShapeType="1"/>
          </p:cNvCxnSpPr>
          <p:nvPr/>
        </p:nvCxnSpPr>
        <p:spPr bwMode="auto">
          <a:xfrm>
            <a:off x="4486276" y="3016250"/>
            <a:ext cx="34972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37"/>
          <p:cNvSpPr>
            <a:spLocks noChangeArrowheads="1"/>
          </p:cNvSpPr>
          <p:nvPr/>
        </p:nvSpPr>
        <p:spPr bwMode="auto">
          <a:xfrm>
            <a:off x="3286126" y="553521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l" rtl="0">
              <a:defRPr/>
            </a:pPr>
            <a:endParaRPr lang="ar-SA"/>
          </a:p>
        </p:txBody>
      </p:sp>
      <p:sp>
        <p:nvSpPr>
          <p:cNvPr id="10" name="Rectangle 39"/>
          <p:cNvSpPr>
            <a:spLocks noChangeArrowheads="1"/>
          </p:cNvSpPr>
          <p:nvPr/>
        </p:nvSpPr>
        <p:spPr bwMode="auto">
          <a:xfrm>
            <a:off x="3286126" y="933777"/>
            <a:ext cx="184731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l" rtl="0">
              <a:defRPr/>
            </a:pPr>
            <a:br>
              <a:rPr lang="en-US" sz="1000">
                <a:ea typeface="Times New Roman" pitchFamily="18" charset="0"/>
              </a:rPr>
            </a:br>
            <a:endParaRPr lang="en-US"/>
          </a:p>
        </p:txBody>
      </p:sp>
      <p:cxnSp>
        <p:nvCxnSpPr>
          <p:cNvPr id="11" name="رابط مستقيم 44"/>
          <p:cNvCxnSpPr>
            <a:cxnSpLocks noChangeShapeType="1"/>
          </p:cNvCxnSpPr>
          <p:nvPr/>
        </p:nvCxnSpPr>
        <p:spPr bwMode="auto">
          <a:xfrm>
            <a:off x="4568826" y="1341437"/>
            <a:ext cx="15287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112210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943101" y="1042988"/>
            <a:ext cx="591502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/>
          <p:cNvSpPr txBox="1">
            <a:spLocks noChangeArrowheads="1"/>
          </p:cNvSpPr>
          <p:nvPr/>
        </p:nvSpPr>
        <p:spPr bwMode="auto">
          <a:xfrm>
            <a:off x="4386263" y="866776"/>
            <a:ext cx="3498850" cy="53736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288" tIns="18288" rIns="18288" bIns="0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tabLst>
                <a:tab pos="1143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tabLst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Student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-idnumberStudent: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-firstname: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-lastname: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-phonenumber 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-major: string	 </a:t>
            </a:r>
          </a:p>
          <a:p>
            <a:pPr algn="l" rtl="0">
              <a:spcBef>
                <a:spcPts val="8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Student ()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Student (idnumberStudent : string,     firstname: string, lastname: string , phonenumber : string, major : string)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toString() : String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equals(obj  : Object) : boolean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addStudent (id : String, fname : String , lname : String , phone : String , major : String 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check (id : String, fname : String , lname : String , phone : String , major : String):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endParaRPr lang="en-US" altLang="ar-SA" sz="1600">
              <a:cs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 </a:t>
            </a:r>
          </a:p>
        </p:txBody>
      </p:sp>
      <p:cxnSp>
        <p:nvCxnSpPr>
          <p:cNvPr id="5" name="رابط مستقيم 32"/>
          <p:cNvCxnSpPr>
            <a:cxnSpLocks noChangeShapeType="1"/>
          </p:cNvCxnSpPr>
          <p:nvPr/>
        </p:nvCxnSpPr>
        <p:spPr bwMode="auto">
          <a:xfrm>
            <a:off x="4384675" y="1171576"/>
            <a:ext cx="3495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رابط مستقيم 33"/>
          <p:cNvCxnSpPr>
            <a:cxnSpLocks noChangeShapeType="1"/>
          </p:cNvCxnSpPr>
          <p:nvPr/>
        </p:nvCxnSpPr>
        <p:spPr bwMode="auto">
          <a:xfrm>
            <a:off x="4384675" y="2822576"/>
            <a:ext cx="34972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37"/>
          <p:cNvSpPr>
            <a:spLocks noChangeArrowheads="1"/>
          </p:cNvSpPr>
          <p:nvPr/>
        </p:nvSpPr>
        <p:spPr bwMode="auto">
          <a:xfrm>
            <a:off x="3048000" y="629722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l" rtl="0">
              <a:defRPr/>
            </a:pPr>
            <a:endParaRPr lang="ar-SA"/>
          </a:p>
        </p:txBody>
      </p:sp>
      <p:sp>
        <p:nvSpPr>
          <p:cNvPr id="10" name="Rectangle 39"/>
          <p:cNvSpPr>
            <a:spLocks noChangeArrowheads="1"/>
          </p:cNvSpPr>
          <p:nvPr/>
        </p:nvSpPr>
        <p:spPr bwMode="auto">
          <a:xfrm>
            <a:off x="3048000" y="1009978"/>
            <a:ext cx="184731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l" rtl="0">
              <a:defRPr/>
            </a:pPr>
            <a:br>
              <a:rPr lang="en-US" sz="1000">
                <a:ea typeface="Times New Roman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67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943101" y="1042988"/>
            <a:ext cx="591502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/>
          <p:cNvSpPr txBox="1">
            <a:spLocks noChangeArrowheads="1"/>
          </p:cNvSpPr>
          <p:nvPr/>
        </p:nvSpPr>
        <p:spPr bwMode="auto">
          <a:xfrm>
            <a:off x="4278313" y="1042988"/>
            <a:ext cx="3498850" cy="518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288" tIns="18288" rIns="18288" bIns="0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tabLst>
                <a:tab pos="1143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tabLst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Staff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-idnumberStaff 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-firstname: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-lastname: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-phonenumber 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-department : string	 </a:t>
            </a:r>
          </a:p>
          <a:p>
            <a:pPr algn="l" rtl="0">
              <a:spcBef>
                <a:spcPts val="8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Staff()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Staff(idnumberStudent : string,     firstname: string, lastname: string , phonenumber : string, major : string)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toString() : String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equals(obj  : Object) : boolean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addStaff (id : String, fname : String , lname : String , phone : String, department : String 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 + check (id : String, fname : String , lname : String , phone : String , department: String):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endParaRPr lang="en-US" altLang="ar-SA" sz="1600">
              <a:cs typeface="Times New Roman" panose="02020603050405020304" pitchFamily="18" charset="0"/>
            </a:endParaRPr>
          </a:p>
        </p:txBody>
      </p:sp>
      <p:cxnSp>
        <p:nvCxnSpPr>
          <p:cNvPr id="5" name="رابط مستقيم 32"/>
          <p:cNvCxnSpPr>
            <a:cxnSpLocks noChangeShapeType="1"/>
          </p:cNvCxnSpPr>
          <p:nvPr/>
        </p:nvCxnSpPr>
        <p:spPr bwMode="auto">
          <a:xfrm>
            <a:off x="4276725" y="1346201"/>
            <a:ext cx="34972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رابط مستقيم 33"/>
          <p:cNvCxnSpPr>
            <a:cxnSpLocks noChangeShapeType="1"/>
          </p:cNvCxnSpPr>
          <p:nvPr/>
        </p:nvCxnSpPr>
        <p:spPr bwMode="auto">
          <a:xfrm>
            <a:off x="4276725" y="2998788"/>
            <a:ext cx="34972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37"/>
          <p:cNvSpPr>
            <a:spLocks noChangeArrowheads="1"/>
          </p:cNvSpPr>
          <p:nvPr/>
        </p:nvSpPr>
        <p:spPr bwMode="auto">
          <a:xfrm>
            <a:off x="3048000" y="629722"/>
            <a:ext cx="184731" cy="3693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l" rtl="0">
              <a:defRPr/>
            </a:pPr>
            <a:endParaRPr lang="ar-SA"/>
          </a:p>
        </p:txBody>
      </p:sp>
      <p:sp>
        <p:nvSpPr>
          <p:cNvPr id="10" name="Rectangle 39"/>
          <p:cNvSpPr>
            <a:spLocks noChangeArrowheads="1"/>
          </p:cNvSpPr>
          <p:nvPr/>
        </p:nvSpPr>
        <p:spPr bwMode="auto">
          <a:xfrm>
            <a:off x="3048000" y="1009978"/>
            <a:ext cx="184731" cy="52322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algn="l" rtl="0">
              <a:defRPr/>
            </a:pPr>
            <a:br>
              <a:rPr lang="en-US" sz="1000">
                <a:ea typeface="Times New Roman" pitchFamily="18" charset="0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4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943101" y="1042988"/>
            <a:ext cx="591502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Book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/>
          <p:cNvSpPr txBox="1">
            <a:spLocks noChangeArrowheads="1"/>
          </p:cNvSpPr>
          <p:nvPr/>
        </p:nvSpPr>
        <p:spPr bwMode="auto">
          <a:xfrm>
            <a:off x="3916363" y="957263"/>
            <a:ext cx="3498850" cy="55308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288" tIns="18288" rIns="18288" bIns="0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tabLst>
                <a:tab pos="1143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tabLst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Book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-idnumberBook: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-title: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-publisher: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-author: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-year_ofpublication: string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-number_copies : int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 editions_book: int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 - financialvalue : double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 - status : boolean </a:t>
            </a:r>
          </a:p>
          <a:p>
            <a:pPr algn="l" rtl="0">
              <a:spcBef>
                <a:spcPts val="8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Book()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Book (id : String , title : String , publisher : String , author : String , year_ofpublication : String , number_copies : int , financialvalue : double )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toString() : String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equals(obj  : Object) : boolean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endParaRPr lang="en-US" altLang="ar-SA" sz="1600">
              <a:cs typeface="Times New Roman" panose="02020603050405020304" pitchFamily="18" charset="0"/>
            </a:endParaRP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endParaRPr lang="en-US" altLang="ar-SA" sz="1600">
              <a:cs typeface="Times New Roman" panose="02020603050405020304" pitchFamily="18" charset="0"/>
            </a:endParaRP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endParaRPr lang="en-US" altLang="ar-SA" sz="1600">
              <a:cs typeface="Times New Roman" panose="02020603050405020304" pitchFamily="18" charset="0"/>
            </a:endParaRPr>
          </a:p>
        </p:txBody>
      </p:sp>
      <p:cxnSp>
        <p:nvCxnSpPr>
          <p:cNvPr id="5" name="رابط مستقيم 32"/>
          <p:cNvCxnSpPr>
            <a:cxnSpLocks noChangeShapeType="1"/>
          </p:cNvCxnSpPr>
          <p:nvPr/>
        </p:nvCxnSpPr>
        <p:spPr bwMode="auto">
          <a:xfrm>
            <a:off x="3913188" y="1262063"/>
            <a:ext cx="34972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رابط مستقيم 33"/>
          <p:cNvCxnSpPr>
            <a:cxnSpLocks noChangeShapeType="1"/>
          </p:cNvCxnSpPr>
          <p:nvPr/>
        </p:nvCxnSpPr>
        <p:spPr bwMode="auto">
          <a:xfrm>
            <a:off x="3917951" y="4144963"/>
            <a:ext cx="34972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مربع نص 3"/>
          <p:cNvSpPr txBox="1">
            <a:spLocks noChangeArrowheads="1"/>
          </p:cNvSpPr>
          <p:nvPr/>
        </p:nvSpPr>
        <p:spPr bwMode="auto">
          <a:xfrm>
            <a:off x="7667626" y="1687513"/>
            <a:ext cx="3498850" cy="30337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288" tIns="18288" rIns="18288" bIns="0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tabLst>
                <a:tab pos="1143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tabLst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   Book</a:t>
            </a:r>
          </a:p>
          <a:p>
            <a:pPr algn="ctr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	 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</a:t>
            </a:r>
            <a:r>
              <a:rPr lang="en-US" altLang="ar-SA" sz="1600" dirty="0" err="1">
                <a:cs typeface="Times New Roman" panose="02020603050405020304" pitchFamily="18" charset="0"/>
              </a:rPr>
              <a:t>addBook</a:t>
            </a:r>
            <a:r>
              <a:rPr lang="en-US" altLang="ar-SA" sz="1600" dirty="0">
                <a:cs typeface="Times New Roman" panose="02020603050405020304" pitchFamily="18" charset="0"/>
              </a:rPr>
              <a:t>(id : String , title : String , publisher : String , author 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year_ofpublication</a:t>
            </a:r>
            <a:r>
              <a:rPr lang="en-US" altLang="ar-SA" sz="1600" dirty="0">
                <a:cs typeface="Times New Roman" panose="02020603050405020304" pitchFamily="18" charset="0"/>
              </a:rPr>
              <a:t> 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number_copies</a:t>
            </a:r>
            <a:r>
              <a:rPr lang="en-US" altLang="ar-SA" sz="1600" dirty="0">
                <a:cs typeface="Times New Roman" panose="02020603050405020304" pitchFamily="18" charset="0"/>
              </a:rPr>
              <a:t> : </a:t>
            </a:r>
            <a:r>
              <a:rPr lang="en-US" altLang="ar-SA" sz="1600" dirty="0" err="1">
                <a:cs typeface="Times New Roman" panose="02020603050405020304" pitchFamily="18" charset="0"/>
              </a:rPr>
              <a:t>int</a:t>
            </a:r>
            <a:r>
              <a:rPr lang="en-US" altLang="ar-SA" sz="1600" dirty="0">
                <a:cs typeface="Times New Roman" panose="02020603050405020304" pitchFamily="18" charset="0"/>
              </a:rPr>
              <a:t> , </a:t>
            </a:r>
            <a:r>
              <a:rPr lang="en-US" altLang="ar-SA" sz="1600" dirty="0" err="1">
                <a:cs typeface="Times New Roman" panose="02020603050405020304" pitchFamily="18" charset="0"/>
              </a:rPr>
              <a:t>financialvalue</a:t>
            </a:r>
            <a:r>
              <a:rPr lang="en-US" altLang="ar-SA" sz="1600" dirty="0">
                <a:cs typeface="Times New Roman" panose="02020603050405020304" pitchFamily="18" charset="0"/>
              </a:rPr>
              <a:t> : double 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check (id : String, title : String , publisher : String , author 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year_ofpublication</a:t>
            </a:r>
            <a:r>
              <a:rPr lang="en-US" altLang="ar-SA" sz="1600" dirty="0">
                <a:cs typeface="Times New Roman" panose="02020603050405020304" pitchFamily="18" charset="0"/>
              </a:rPr>
              <a:t> : String):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search (id : String ): </a:t>
            </a:r>
            <a:r>
              <a:rPr lang="en-US" altLang="ar-SA" sz="1600" dirty="0" err="1">
                <a:cs typeface="Times New Roman" panose="02020603050405020304" pitchFamily="18" charset="0"/>
              </a:rPr>
              <a:t>ResultSet</a:t>
            </a:r>
            <a:endParaRPr lang="en-US" altLang="ar-SA" sz="1600" dirty="0">
              <a:cs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endParaRPr lang="en-US" altLang="ar-SA" sz="1600" dirty="0">
              <a:cs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 </a:t>
            </a:r>
          </a:p>
        </p:txBody>
      </p:sp>
      <p:cxnSp>
        <p:nvCxnSpPr>
          <p:cNvPr id="10" name="رابط مستقيم 7"/>
          <p:cNvCxnSpPr>
            <a:cxnSpLocks noChangeShapeType="1"/>
          </p:cNvCxnSpPr>
          <p:nvPr/>
        </p:nvCxnSpPr>
        <p:spPr bwMode="auto">
          <a:xfrm>
            <a:off x="7667626" y="2000250"/>
            <a:ext cx="3498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548470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943101" y="1042988"/>
            <a:ext cx="591502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Book Loaning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/>
          <p:cNvSpPr txBox="1">
            <a:spLocks noChangeArrowheads="1"/>
          </p:cNvSpPr>
          <p:nvPr/>
        </p:nvSpPr>
        <p:spPr bwMode="auto">
          <a:xfrm>
            <a:off x="4902200" y="777875"/>
            <a:ext cx="3497263" cy="54927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288" tIns="18288" rIns="18288" bIns="0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tabLst>
                <a:tab pos="1143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tabLst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Book_Loan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-librarian_number: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-borrowing_number: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-book_number: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-borrowing_date: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-borrowing_enddate: string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-edition: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Book_Loan()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Book_Loan (librarian_number: String , borrowing_number: String , book_number: String , borrowing_date: String , borrowing_enddate: String , edition : String )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toString() : String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equals(obj  : Object) : boolean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borrowBook(n : int , u_id : String , borr_id : String , b_id : String 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>
                <a:cs typeface="Times New Roman" panose="02020603050405020304" pitchFamily="18" charset="0"/>
              </a:rPr>
              <a:t>+ checkint (borr_id : String , b_id : String 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endParaRPr lang="en-US" altLang="ar-SA" sz="1600">
              <a:cs typeface="Times New Roman" panose="02020603050405020304" pitchFamily="18" charset="0"/>
            </a:endParaRP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endParaRPr lang="en-US" altLang="ar-SA" sz="1600">
              <a:cs typeface="Times New Roman" panose="02020603050405020304" pitchFamily="18" charset="0"/>
            </a:endParaRP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endParaRPr lang="en-US" altLang="ar-SA" sz="1600">
              <a:cs typeface="Times New Roman" panose="02020603050405020304" pitchFamily="18" charset="0"/>
            </a:endParaRPr>
          </a:p>
        </p:txBody>
      </p:sp>
      <p:cxnSp>
        <p:nvCxnSpPr>
          <p:cNvPr id="5" name="رابط مستقيم 32"/>
          <p:cNvCxnSpPr>
            <a:cxnSpLocks noChangeShapeType="1"/>
          </p:cNvCxnSpPr>
          <p:nvPr/>
        </p:nvCxnSpPr>
        <p:spPr bwMode="auto">
          <a:xfrm>
            <a:off x="4899025" y="1082675"/>
            <a:ext cx="34972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رابط مستقيم 33"/>
          <p:cNvCxnSpPr>
            <a:cxnSpLocks noChangeShapeType="1"/>
          </p:cNvCxnSpPr>
          <p:nvPr/>
        </p:nvCxnSpPr>
        <p:spPr bwMode="auto">
          <a:xfrm>
            <a:off x="4899025" y="3044825"/>
            <a:ext cx="34972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23101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943101" y="1042988"/>
            <a:ext cx="5915025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Book Return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مربع نص 3"/>
          <p:cNvSpPr txBox="1">
            <a:spLocks noChangeArrowheads="1"/>
          </p:cNvSpPr>
          <p:nvPr/>
        </p:nvSpPr>
        <p:spPr bwMode="auto">
          <a:xfrm>
            <a:off x="4794250" y="652463"/>
            <a:ext cx="3498850" cy="59705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8288" tIns="18288" rIns="18288" bIns="0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tabLst>
                <a:tab pos="11430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tabLst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tabLst>
                <a:tab pos="11430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rtl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600" dirty="0" err="1">
                <a:cs typeface="Times New Roman" panose="02020603050405020304" pitchFamily="18" charset="0"/>
              </a:rPr>
              <a:t>Book_return</a:t>
            </a:r>
            <a:endParaRPr lang="en-US" altLang="ar-SA" sz="1600" dirty="0">
              <a:cs typeface="Times New Roman" panose="02020603050405020304" pitchFamily="18" charset="0"/>
            </a:endParaRP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</a:t>
            </a:r>
            <a:r>
              <a:rPr lang="en-US" altLang="ar-SA" sz="1600" dirty="0" err="1">
                <a:cs typeface="Times New Roman" panose="02020603050405020304" pitchFamily="18" charset="0"/>
              </a:rPr>
              <a:t>librarian_number</a:t>
            </a:r>
            <a:r>
              <a:rPr lang="en-US" altLang="ar-SA" sz="1600" dirty="0">
                <a:cs typeface="Times New Roman" panose="02020603050405020304" pitchFamily="18" charset="0"/>
              </a:rPr>
              <a:t>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</a:t>
            </a:r>
            <a:r>
              <a:rPr lang="en-US" altLang="ar-SA" sz="1600" dirty="0" err="1">
                <a:cs typeface="Times New Roman" panose="02020603050405020304" pitchFamily="18" charset="0"/>
              </a:rPr>
              <a:t>borrowing_number</a:t>
            </a:r>
            <a:r>
              <a:rPr lang="en-US" altLang="ar-SA" sz="1600" dirty="0">
                <a:cs typeface="Times New Roman" panose="02020603050405020304" pitchFamily="18" charset="0"/>
              </a:rPr>
              <a:t>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</a:t>
            </a:r>
            <a:r>
              <a:rPr lang="en-US" altLang="ar-SA" sz="1600" dirty="0" err="1">
                <a:cs typeface="Times New Roman" panose="02020603050405020304" pitchFamily="18" charset="0"/>
              </a:rPr>
              <a:t>book_number</a:t>
            </a:r>
            <a:r>
              <a:rPr lang="en-US" altLang="ar-SA" sz="1600" dirty="0">
                <a:cs typeface="Times New Roman" panose="02020603050405020304" pitchFamily="18" charset="0"/>
              </a:rPr>
              <a:t>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</a:t>
            </a:r>
            <a:r>
              <a:rPr lang="en-US" altLang="ar-SA" sz="1600" dirty="0" err="1">
                <a:cs typeface="Times New Roman" panose="02020603050405020304" pitchFamily="18" charset="0"/>
              </a:rPr>
              <a:t>borrowing_date</a:t>
            </a:r>
            <a:r>
              <a:rPr lang="en-US" altLang="ar-SA" sz="1600" dirty="0">
                <a:cs typeface="Times New Roman" panose="02020603050405020304" pitchFamily="18" charset="0"/>
              </a:rPr>
              <a:t>: string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</a:t>
            </a:r>
            <a:r>
              <a:rPr lang="en-US" altLang="ar-SA" sz="1600" dirty="0" err="1">
                <a:cs typeface="Times New Roman" panose="02020603050405020304" pitchFamily="18" charset="0"/>
              </a:rPr>
              <a:t>borrowing_enddate</a:t>
            </a:r>
            <a:r>
              <a:rPr lang="en-US" altLang="ar-SA" sz="1600" dirty="0">
                <a:cs typeface="Times New Roman" panose="02020603050405020304" pitchFamily="18" charset="0"/>
              </a:rPr>
              <a:t>: string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</a:t>
            </a:r>
            <a:r>
              <a:rPr lang="en-US" altLang="ar-SA" sz="1600" dirty="0" err="1">
                <a:cs typeface="Times New Roman" panose="02020603050405020304" pitchFamily="18" charset="0"/>
              </a:rPr>
              <a:t>borrowing_late</a:t>
            </a:r>
            <a:r>
              <a:rPr lang="en-US" altLang="ar-SA" sz="1600" dirty="0">
                <a:cs typeface="Times New Roman" panose="02020603050405020304" pitchFamily="18" charset="0"/>
              </a:rPr>
              <a:t>: </a:t>
            </a:r>
            <a:r>
              <a:rPr lang="en-US" altLang="ar-SA" sz="1600" dirty="0" err="1">
                <a:cs typeface="Times New Roman" panose="02020603050405020304" pitchFamily="18" charset="0"/>
              </a:rPr>
              <a:t>int</a:t>
            </a:r>
            <a:r>
              <a:rPr lang="en-US" altLang="ar-SA" sz="1600" dirty="0">
                <a:cs typeface="Times New Roman" panose="02020603050405020304" pitchFamily="18" charset="0"/>
              </a:rPr>
              <a:t>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- financial : double 	 </a:t>
            </a: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</a:t>
            </a:r>
            <a:r>
              <a:rPr lang="en-US" altLang="ar-SA" sz="1600" dirty="0" err="1">
                <a:cs typeface="Times New Roman" panose="02020603050405020304" pitchFamily="18" charset="0"/>
              </a:rPr>
              <a:t>Book_return</a:t>
            </a:r>
            <a:r>
              <a:rPr lang="en-US" altLang="ar-SA" sz="1600" dirty="0">
                <a:cs typeface="Times New Roman" panose="02020603050405020304" pitchFamily="18" charset="0"/>
              </a:rPr>
              <a:t>()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</a:t>
            </a:r>
            <a:r>
              <a:rPr lang="en-US" altLang="ar-SA" sz="1600" dirty="0" err="1">
                <a:cs typeface="Times New Roman" panose="02020603050405020304" pitchFamily="18" charset="0"/>
              </a:rPr>
              <a:t>Book_return</a:t>
            </a:r>
            <a:r>
              <a:rPr lang="en-US" altLang="ar-SA" sz="1600" dirty="0">
                <a:cs typeface="Times New Roman" panose="02020603050405020304" pitchFamily="18" charset="0"/>
              </a:rPr>
              <a:t> (</a:t>
            </a:r>
            <a:r>
              <a:rPr lang="en-US" altLang="ar-SA" sz="1600" dirty="0" err="1">
                <a:cs typeface="Times New Roman" panose="02020603050405020304" pitchFamily="18" charset="0"/>
              </a:rPr>
              <a:t>librarian_number</a:t>
            </a:r>
            <a:r>
              <a:rPr lang="en-US" altLang="ar-SA" sz="1600" dirty="0">
                <a:cs typeface="Times New Roman" panose="02020603050405020304" pitchFamily="18" charset="0"/>
              </a:rPr>
              <a:t>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borrowing_number</a:t>
            </a:r>
            <a:r>
              <a:rPr lang="en-US" altLang="ar-SA" sz="1600" dirty="0">
                <a:cs typeface="Times New Roman" panose="02020603050405020304" pitchFamily="18" charset="0"/>
              </a:rPr>
              <a:t>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book_number</a:t>
            </a:r>
            <a:r>
              <a:rPr lang="en-US" altLang="ar-SA" sz="1600" dirty="0">
                <a:cs typeface="Times New Roman" panose="02020603050405020304" pitchFamily="18" charset="0"/>
              </a:rPr>
              <a:t>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borrowing_date</a:t>
            </a:r>
            <a:r>
              <a:rPr lang="en-US" altLang="ar-SA" sz="1600" dirty="0">
                <a:cs typeface="Times New Roman" panose="02020603050405020304" pitchFamily="18" charset="0"/>
              </a:rPr>
              <a:t>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borrowing_enddate</a:t>
            </a:r>
            <a:r>
              <a:rPr lang="en-US" altLang="ar-SA" sz="1600" dirty="0">
                <a:cs typeface="Times New Roman" panose="02020603050405020304" pitchFamily="18" charset="0"/>
              </a:rPr>
              <a:t>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borrowing_late</a:t>
            </a:r>
            <a:r>
              <a:rPr lang="en-US" altLang="ar-SA" sz="1600" dirty="0">
                <a:cs typeface="Times New Roman" panose="02020603050405020304" pitchFamily="18" charset="0"/>
              </a:rPr>
              <a:t> : </a:t>
            </a:r>
            <a:r>
              <a:rPr lang="en-US" altLang="ar-SA" sz="1600" dirty="0" err="1">
                <a:cs typeface="Times New Roman" panose="02020603050405020304" pitchFamily="18" charset="0"/>
              </a:rPr>
              <a:t>int</a:t>
            </a:r>
            <a:r>
              <a:rPr lang="en-US" altLang="ar-SA" sz="1600" dirty="0">
                <a:cs typeface="Times New Roman" panose="02020603050405020304" pitchFamily="18" charset="0"/>
              </a:rPr>
              <a:t> , financial : double )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</a:t>
            </a:r>
            <a:r>
              <a:rPr lang="en-US" altLang="ar-SA" sz="1600" dirty="0" err="1">
                <a:cs typeface="Times New Roman" panose="02020603050405020304" pitchFamily="18" charset="0"/>
              </a:rPr>
              <a:t>toString</a:t>
            </a:r>
            <a:r>
              <a:rPr lang="en-US" altLang="ar-SA" sz="1600" dirty="0">
                <a:cs typeface="Times New Roman" panose="02020603050405020304" pitchFamily="18" charset="0"/>
              </a:rPr>
              <a:t>() : String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equals(</a:t>
            </a:r>
            <a:r>
              <a:rPr lang="en-US" altLang="ar-SA" sz="1600" dirty="0" err="1">
                <a:cs typeface="Times New Roman" panose="02020603050405020304" pitchFamily="18" charset="0"/>
              </a:rPr>
              <a:t>obj</a:t>
            </a:r>
            <a:r>
              <a:rPr lang="en-US" altLang="ar-SA" sz="1600" dirty="0">
                <a:cs typeface="Times New Roman" panose="02020603050405020304" pitchFamily="18" charset="0"/>
              </a:rPr>
              <a:t>  : Object) : </a:t>
            </a:r>
            <a:r>
              <a:rPr lang="en-US" altLang="ar-SA" sz="1600" dirty="0" err="1">
                <a:cs typeface="Times New Roman" panose="02020603050405020304" pitchFamily="18" charset="0"/>
              </a:rPr>
              <a:t>boolean</a:t>
            </a:r>
            <a:endParaRPr lang="en-US" altLang="ar-SA" sz="1600" dirty="0">
              <a:cs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</a:t>
            </a:r>
            <a:r>
              <a:rPr lang="en-US" altLang="ar-SA" sz="1600" dirty="0" err="1">
                <a:cs typeface="Times New Roman" panose="02020603050405020304" pitchFamily="18" charset="0"/>
              </a:rPr>
              <a:t>returnBook</a:t>
            </a:r>
            <a:r>
              <a:rPr lang="en-US" altLang="ar-SA" sz="1600" dirty="0">
                <a:cs typeface="Times New Roman" panose="02020603050405020304" pitchFamily="18" charset="0"/>
              </a:rPr>
              <a:t>(n : </a:t>
            </a:r>
            <a:r>
              <a:rPr lang="en-US" altLang="ar-SA" sz="1600" dirty="0" err="1">
                <a:cs typeface="Times New Roman" panose="02020603050405020304" pitchFamily="18" charset="0"/>
              </a:rPr>
              <a:t>int</a:t>
            </a:r>
            <a:r>
              <a:rPr lang="en-US" altLang="ar-SA" sz="1600" dirty="0">
                <a:cs typeface="Times New Roman" panose="02020603050405020304" pitchFamily="18" charset="0"/>
              </a:rPr>
              <a:t> , </a:t>
            </a:r>
            <a:r>
              <a:rPr lang="en-US" altLang="ar-SA" sz="1600" dirty="0" err="1">
                <a:cs typeface="Times New Roman" panose="02020603050405020304" pitchFamily="18" charset="0"/>
              </a:rPr>
              <a:t>u_id</a:t>
            </a:r>
            <a:r>
              <a:rPr lang="en-US" altLang="ar-SA" sz="1600" dirty="0">
                <a:cs typeface="Times New Roman" panose="02020603050405020304" pitchFamily="18" charset="0"/>
              </a:rPr>
              <a:t> 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borr_id</a:t>
            </a:r>
            <a:r>
              <a:rPr lang="en-US" altLang="ar-SA" sz="1600" dirty="0">
                <a:cs typeface="Times New Roman" panose="02020603050405020304" pitchFamily="18" charset="0"/>
              </a:rPr>
              <a:t> 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b_id</a:t>
            </a:r>
            <a:r>
              <a:rPr lang="en-US" altLang="ar-SA" sz="1600" dirty="0">
                <a:cs typeface="Times New Roman" panose="02020603050405020304" pitchFamily="18" charset="0"/>
              </a:rPr>
              <a:t> : String 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r>
              <a:rPr lang="en-US" altLang="ar-SA" sz="1600" dirty="0">
                <a:cs typeface="Times New Roman" panose="02020603050405020304" pitchFamily="18" charset="0"/>
              </a:rPr>
              <a:t>+ </a:t>
            </a:r>
            <a:r>
              <a:rPr lang="en-US" altLang="ar-SA" sz="1600" dirty="0" err="1">
                <a:cs typeface="Times New Roman" panose="02020603050405020304" pitchFamily="18" charset="0"/>
              </a:rPr>
              <a:t>checkint</a:t>
            </a:r>
            <a:r>
              <a:rPr lang="en-US" altLang="ar-SA" sz="1600" dirty="0">
                <a:cs typeface="Times New Roman" panose="02020603050405020304" pitchFamily="18" charset="0"/>
              </a:rPr>
              <a:t> (</a:t>
            </a:r>
            <a:r>
              <a:rPr lang="en-US" altLang="ar-SA" sz="1600" dirty="0" err="1">
                <a:cs typeface="Times New Roman" panose="02020603050405020304" pitchFamily="18" charset="0"/>
              </a:rPr>
              <a:t>borr_id</a:t>
            </a:r>
            <a:r>
              <a:rPr lang="en-US" altLang="ar-SA" sz="1600" dirty="0">
                <a:cs typeface="Times New Roman" panose="02020603050405020304" pitchFamily="18" charset="0"/>
              </a:rPr>
              <a:t> : String , </a:t>
            </a:r>
            <a:r>
              <a:rPr lang="en-US" altLang="ar-SA" sz="1600" dirty="0" err="1">
                <a:cs typeface="Times New Roman" panose="02020603050405020304" pitchFamily="18" charset="0"/>
              </a:rPr>
              <a:t>b_id</a:t>
            </a:r>
            <a:r>
              <a:rPr lang="en-US" altLang="ar-SA" sz="1600" dirty="0">
                <a:cs typeface="Times New Roman" panose="02020603050405020304" pitchFamily="18" charset="0"/>
              </a:rPr>
              <a:t> : String , n </a:t>
            </a:r>
            <a:r>
              <a:rPr lang="en-US" altLang="ar-SA" sz="1600" dirty="0" err="1">
                <a:cs typeface="Times New Roman" panose="02020603050405020304" pitchFamily="18" charset="0"/>
              </a:rPr>
              <a:t>int</a:t>
            </a:r>
            <a:r>
              <a:rPr lang="en-US" altLang="ar-SA" sz="1600" dirty="0">
                <a:cs typeface="Times New Roman" panose="02020603050405020304" pitchFamily="18" charset="0"/>
              </a:rPr>
              <a:t> ): void</a:t>
            </a: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endParaRPr lang="en-US" altLang="ar-SA" sz="1600" dirty="0">
              <a:cs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endParaRPr lang="en-US" altLang="ar-SA" sz="1600" dirty="0">
              <a:cs typeface="Times New Roman" panose="02020603050405020304" pitchFamily="18" charset="0"/>
            </a:endParaRPr>
          </a:p>
          <a:p>
            <a:pPr algn="l" rtl="0">
              <a:spcBef>
                <a:spcPts val="300"/>
              </a:spcBef>
              <a:buClrTx/>
              <a:buSzTx/>
              <a:buFontTx/>
              <a:buNone/>
            </a:pPr>
            <a:endParaRPr lang="en-US" altLang="ar-SA" sz="1600" dirty="0">
              <a:cs typeface="Times New Roman" panose="02020603050405020304" pitchFamily="18" charset="0"/>
            </a:endParaRP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endParaRPr lang="en-US" altLang="ar-SA" sz="1600" dirty="0">
              <a:cs typeface="Times New Roman" panose="02020603050405020304" pitchFamily="18" charset="0"/>
            </a:endParaRPr>
          </a:p>
          <a:p>
            <a:pPr algn="l" rtl="0">
              <a:spcBef>
                <a:spcPts val="600"/>
              </a:spcBef>
              <a:buClrTx/>
              <a:buSzTx/>
              <a:buFontTx/>
              <a:buNone/>
            </a:pPr>
            <a:endParaRPr lang="en-US" altLang="ar-SA" sz="1600" dirty="0">
              <a:cs typeface="Times New Roman" panose="02020603050405020304" pitchFamily="18" charset="0"/>
            </a:endParaRPr>
          </a:p>
        </p:txBody>
      </p:sp>
      <p:cxnSp>
        <p:nvCxnSpPr>
          <p:cNvPr id="5" name="رابط مستقيم 32"/>
          <p:cNvCxnSpPr>
            <a:cxnSpLocks noChangeShapeType="1"/>
          </p:cNvCxnSpPr>
          <p:nvPr/>
        </p:nvCxnSpPr>
        <p:spPr bwMode="auto">
          <a:xfrm>
            <a:off x="4792662" y="955675"/>
            <a:ext cx="3495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رابط مستقيم 33"/>
          <p:cNvCxnSpPr>
            <a:cxnSpLocks noChangeShapeType="1"/>
          </p:cNvCxnSpPr>
          <p:nvPr/>
        </p:nvCxnSpPr>
        <p:spPr bwMode="auto">
          <a:xfrm>
            <a:off x="4795837" y="3167063"/>
            <a:ext cx="34972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128242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2.Graphic Interfaces :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مربع نص 6"/>
          <p:cNvSpPr txBox="1"/>
          <p:nvPr/>
        </p:nvSpPr>
        <p:spPr>
          <a:xfrm>
            <a:off x="2014537" y="1643063"/>
            <a:ext cx="2728913" cy="440120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1.login.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2.Admin login.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3.Regester.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4.DashBord.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5.Add student.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6.Add staff.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7.Add book.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8.Search book.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9.Loaning student.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10.Loaning staff.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11. Borrow Staff.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12. Borrow student.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13.Return book.</a:t>
            </a:r>
          </a:p>
          <a:p>
            <a:pPr algn="l"/>
            <a:endParaRPr lang="ar-S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725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857375" y="869216"/>
            <a:ext cx="764381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login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674" y="1359460"/>
            <a:ext cx="7500938" cy="532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83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Admin login.</a:t>
            </a: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823" y="1430894"/>
            <a:ext cx="4036692" cy="531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35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Register :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37" y="1471612"/>
            <a:ext cx="6964842" cy="527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6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Graphic Interfaces :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710" y="1470454"/>
            <a:ext cx="7381877" cy="521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68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 student :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86" y="1584750"/>
            <a:ext cx="9096561" cy="490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5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 staff :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031" y="1533524"/>
            <a:ext cx="9813132" cy="528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66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 book :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75" y="1443037"/>
            <a:ext cx="6396038" cy="537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31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Search book :</a:t>
            </a: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367" y="1624012"/>
            <a:ext cx="92011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1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Loaning student. 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562" y="1476375"/>
            <a:ext cx="859863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06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Loaning staff :</a:t>
            </a: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38" y="1590675"/>
            <a:ext cx="8243888" cy="498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88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Borrow Staff :</a:t>
            </a: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37" y="1560478"/>
            <a:ext cx="7758113" cy="526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28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Borrow student :</a:t>
            </a: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11" y="1500187"/>
            <a:ext cx="7657553" cy="520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58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628775" y="926366"/>
            <a:ext cx="764381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13.Return book :</a:t>
            </a: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585913"/>
            <a:ext cx="96774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85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1785938" y="271462"/>
            <a:ext cx="7429500" cy="65556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3.DataBase: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this project , a database was crated using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Oracle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8 tables were created :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1.BOOKS.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2.USERS.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3.STUDENTS.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4.STAFFS.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5. BORROW_STAFF.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6. BORROW_STDUDENT.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7. S_RETURNED_BOOKS.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8. ST_RETURNED_BOOKS.</a:t>
            </a:r>
          </a:p>
          <a:p>
            <a:pPr algn="l"/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366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2128838" y="914400"/>
            <a:ext cx="48720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BOOKS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صورة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43" y="1881078"/>
            <a:ext cx="10283565" cy="341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82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2128838" y="914400"/>
            <a:ext cx="48720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863" y="2062067"/>
            <a:ext cx="9644063" cy="293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7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2128838" y="914400"/>
            <a:ext cx="48720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3" y="2009695"/>
            <a:ext cx="9544049" cy="283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72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2128838" y="914400"/>
            <a:ext cx="48720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STAFFS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9" y="2085894"/>
            <a:ext cx="9129712" cy="292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2128838" y="914400"/>
            <a:ext cx="48720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BORROW_STAFF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028741"/>
            <a:ext cx="10229849" cy="332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97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2128838" y="914400"/>
            <a:ext cx="48720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BORROW_STDUDENT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163" y="2185907"/>
            <a:ext cx="9715499" cy="325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25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2128838" y="914400"/>
            <a:ext cx="48720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S_RETURNED_BOOKS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3" y="1885950"/>
            <a:ext cx="9815512" cy="392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381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/>
          <p:cNvSpPr txBox="1"/>
          <p:nvPr/>
        </p:nvSpPr>
        <p:spPr>
          <a:xfrm>
            <a:off x="2128838" y="914400"/>
            <a:ext cx="487203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ST_RETURNED_BOOKS</a:t>
            </a: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25" y="2300288"/>
            <a:ext cx="9701213" cy="375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81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أيون">
  <a:themeElements>
    <a:clrScheme name="أزرق دافئ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أيون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أيون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134</TotalTime>
  <Words>1165</Words>
  <Application>Microsoft Office PowerPoint</Application>
  <PresentationFormat>شاشة عريضة</PresentationFormat>
  <Paragraphs>166</Paragraphs>
  <Slides>32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32</vt:i4>
      </vt:variant>
    </vt:vector>
  </HeadingPairs>
  <TitlesOfParts>
    <vt:vector size="37" baseType="lpstr">
      <vt:lpstr>Arial</vt:lpstr>
      <vt:lpstr>Century Gothic</vt:lpstr>
      <vt:lpstr>Times New Roman</vt:lpstr>
      <vt:lpstr>Wingdings 3</vt:lpstr>
      <vt:lpstr>أيون</vt:lpstr>
      <vt:lpstr>FINAL EXAM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Exam</dc:title>
  <dc:creator>حساب Microsoft</dc:creator>
  <cp:lastModifiedBy>Momen Sarsour</cp:lastModifiedBy>
  <cp:revision>27</cp:revision>
  <dcterms:created xsi:type="dcterms:W3CDTF">2022-01-12T04:22:42Z</dcterms:created>
  <dcterms:modified xsi:type="dcterms:W3CDTF">2025-11-19T20:32:04Z</dcterms:modified>
</cp:coreProperties>
</file>